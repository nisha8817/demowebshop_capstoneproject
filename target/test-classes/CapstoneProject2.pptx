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4" r:id="rId6"/>
    <p:sldId id="290" r:id="rId7"/>
    <p:sldId id="279" r:id="rId8"/>
    <p:sldId id="258" r:id="rId9"/>
    <p:sldId id="261" r:id="rId10"/>
    <p:sldId id="289" r:id="rId11"/>
    <p:sldId id="285" r:id="rId12"/>
    <p:sldId id="281" r:id="rId13"/>
    <p:sldId id="284" r:id="rId14"/>
    <p:sldId id="268" r:id="rId15"/>
    <p:sldId id="274" r:id="rId16"/>
    <p:sldId id="288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772B54-D727-2553-87D1-A21E3E2FE9CD}" v="37" dt="2026-07-10T04:07:14.115"/>
    <p1510:client id="{B2250378-21F2-946B-745C-6229D72507BF}" v="259" dt="2026-07-09T09:52:29.644"/>
    <p1510:client id="{B2FA14CD-80FA-C577-83B6-D21B82AF9143}" v="534" dt="2026-07-09T09:24:56.122"/>
    <p1510:client id="{B30B6117-453B-945A-BACC-77E266889AF0}" v="395" dt="2026-07-09T05:25:55.101"/>
    <p1510:client id="{C5A07DE3-F028-9CF9-08E9-75003A3A1C0B}" v="21" dt="2026-07-08T11:55:14.104"/>
    <p1510:client id="{F1E61646-82BA-DDD1-9D47-0E9B65CC7438}" v="14" dt="2026-07-09T05:07:26.038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7/9/2026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7/9/2026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78A8F-FB14-D3D2-8AC3-CFE7F072E8C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3109685"/>
            <a:ext cx="10287000" cy="4053115"/>
          </a:xfrm>
        </p:spPr>
        <p:txBody>
          <a:bodyPr anchor="b">
            <a:normAutofit fontScale="90000"/>
          </a:bodyPr>
          <a:lstStyle/>
          <a:p>
            <a:pPr algn="ctr"/>
            <a:br>
              <a:rPr lang="en-US" sz="2400" dirty="0">
                <a:highlight>
                  <a:srgbClr val="FFFFFF"/>
                </a:highlight>
                <a:latin typeface="Times New Roman"/>
                <a:cs typeface="Times New Roman"/>
              </a:rPr>
            </a:br>
            <a:br>
              <a:rPr lang="en-US" sz="2400" dirty="0">
                <a:highlight>
                  <a:srgbClr val="FFFFFF"/>
                </a:highlight>
                <a:latin typeface="Times New Roman"/>
                <a:cs typeface="Times New Roman"/>
              </a:rPr>
            </a:br>
            <a:br>
              <a:rPr lang="en-US" sz="2400" dirty="0">
                <a:highlight>
                  <a:srgbClr val="FFFFFF"/>
                </a:highlight>
                <a:latin typeface="Times New Roman"/>
                <a:cs typeface="Times New Roman"/>
              </a:rPr>
            </a:br>
            <a:br>
              <a:rPr lang="en-US" sz="2400" dirty="0">
                <a:highlight>
                  <a:srgbClr val="FFFFFF"/>
                </a:highlight>
                <a:latin typeface="Times New Roman"/>
                <a:cs typeface="Times New Roman"/>
              </a:rPr>
            </a:br>
            <a:br>
              <a:rPr lang="en-US" sz="2400" dirty="0">
                <a:highlight>
                  <a:srgbClr val="FFFFFF"/>
                </a:highlight>
                <a:latin typeface="Times New Roman"/>
                <a:cs typeface="Times New Roman"/>
              </a:rPr>
            </a:br>
            <a:br>
              <a:rPr lang="en-US" sz="2400" dirty="0">
                <a:highlight>
                  <a:srgbClr val="FFFFFF"/>
                </a:highlight>
                <a:latin typeface="Times New Roman"/>
                <a:cs typeface="Times New Roman"/>
              </a:rPr>
            </a:br>
            <a:r>
              <a:rPr lang="en-US" sz="3200">
                <a:solidFill>
                  <a:srgbClr val="153D63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DEMO WEB SHOP AUTOMATION TESTING FRAMEWORK</a:t>
            </a:r>
            <a:endParaRPr lang="en-US" sz="3200" b="0">
              <a:solidFill>
                <a:srgbClr val="153D63"/>
              </a:solidFill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r>
              <a:rPr lang="en-US" sz="3200">
                <a:solidFill>
                  <a:srgbClr val="153D63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USING SELENIUM, CUCUMBER, TESTNG AND JAVA</a:t>
            </a:r>
            <a:endParaRPr lang="en-US" sz="3200" b="0">
              <a:solidFill>
                <a:srgbClr val="153D63"/>
              </a:solidFill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just"/>
            <a:endParaRPr lang="en-US" sz="2400" b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r>
              <a:rPr lang="en-US" sz="2800" b="0" i="1">
                <a:solidFill>
                  <a:srgbClr val="153D63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CAPSTONE PROJECT PRESENTATION</a:t>
            </a:r>
            <a:endParaRPr lang="en-US" sz="2800" b="0" i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algn="ctr"/>
            <a:endParaRPr lang="en-US" sz="1800" b="0">
              <a:solidFill>
                <a:srgbClr val="153D63"/>
              </a:solidFill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endParaRPr lang="en-US" sz="1200" b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br>
              <a:rPr lang="en-US" sz="1200" b="0" dirty="0">
                <a:highlight>
                  <a:srgbClr val="C6C6C6"/>
                </a:highlight>
                <a:latin typeface="Times New Roman"/>
                <a:cs typeface="Times New Roman"/>
              </a:rPr>
            </a:br>
            <a:endParaRPr lang="en-US" sz="1200" b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endParaRPr lang="en-US" sz="1200" b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r>
              <a:rPr lang="en-US" sz="1800" i="1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SDET TRAINING PROGRAM</a:t>
            </a:r>
            <a:endParaRPr lang="en-US" sz="1800">
              <a:solidFill>
                <a:schemeClr val="accent6">
                  <a:lumMod val="49000"/>
                </a:schemeClr>
              </a:solidFill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r>
              <a:rPr lang="en-US" sz="1800" i="1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WIPRO LIMITED</a:t>
            </a:r>
            <a:endParaRPr lang="en-US" sz="1800">
              <a:solidFill>
                <a:schemeClr val="accent6">
                  <a:lumMod val="49000"/>
                </a:schemeClr>
              </a:solidFill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r>
              <a:rPr lang="en-US" sz="1800" i="1">
                <a:solidFill>
                  <a:schemeClr val="accent6">
                    <a:lumMod val="49000"/>
                  </a:schemeClr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2026</a:t>
            </a:r>
            <a:endParaRPr lang="en-US">
              <a:solidFill>
                <a:schemeClr val="accent6">
                  <a:lumMod val="49000"/>
                </a:schemeClr>
              </a:solidFill>
            </a:endParaRPr>
          </a:p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6B62AB-142E-908A-546D-1D4840EF9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917154"/>
              </p:ext>
            </p:extLst>
          </p:nvPr>
        </p:nvGraphicFramePr>
        <p:xfrm>
          <a:off x="892395" y="370114"/>
          <a:ext cx="11292129" cy="47548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250329">
                  <a:extLst>
                    <a:ext uri="{9D8B030D-6E8A-4147-A177-3AD203B41FA5}">
                      <a16:colId xmlns:a16="http://schemas.microsoft.com/office/drawing/2014/main" val="3993746737"/>
                    </a:ext>
                  </a:extLst>
                </a:gridCol>
                <a:gridCol w="5041800">
                  <a:extLst>
                    <a:ext uri="{9D8B030D-6E8A-4147-A177-3AD203B41FA5}">
                      <a16:colId xmlns:a16="http://schemas.microsoft.com/office/drawing/2014/main" val="3773616714"/>
                    </a:ext>
                  </a:extLst>
                </a:gridCol>
              </a:tblGrid>
              <a:tr h="20401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r>
                        <a:rPr lang="en-US" b="1" dirty="0"/>
                        <a:t>Guided By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b="1" dirty="0"/>
                        <a:t> Anand B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r>
                        <a:rPr lang="en-US" b="1" dirty="0"/>
                        <a:t>Submitted By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b="1" dirty="0"/>
                        <a:t>Group – G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b="1" dirty="0"/>
                        <a:t>Team Members</a:t>
                      </a:r>
                      <a:endParaRPr lang="en-US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Nisha </a:t>
                      </a:r>
                      <a:r>
                        <a:rPr lang="en-US" dirty="0" err="1"/>
                        <a:t>Mandiwal</a:t>
                      </a:r>
                      <a:endParaRPr lang="en-US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Pammi Yashwitha Reddy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Pasagadugula</a:t>
                      </a:r>
                      <a:r>
                        <a:rPr lang="en-US" dirty="0"/>
                        <a:t> Sree Keerthana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Manikanta </a:t>
                      </a:r>
                      <a:r>
                        <a:rPr lang="en-US" dirty="0" err="1"/>
                        <a:t>Potnuru</a:t>
                      </a:r>
                      <a:endParaRPr lang="en-US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Arthi Prasuna Reddy </a:t>
                      </a:r>
                      <a:r>
                        <a:rPr lang="en-US" dirty="0" err="1"/>
                        <a:t>Musipatla</a:t>
                      </a:r>
                      <a:endParaRPr lang="en-US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Kandukuri Siddarth Goud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816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/>
          <a:lstStyle/>
          <a:p>
            <a:r>
              <a:rPr lang="en-US">
                <a:latin typeface="Century Gothic"/>
                <a:cs typeface="Segoe UI"/>
              </a:rPr>
              <a:t>Project Overview</a:t>
            </a:r>
            <a:endParaRPr lang="en-US">
              <a:latin typeface="Century Gothic"/>
            </a:endParaRPr>
          </a:p>
          <a:p>
            <a:endParaRPr lang="en-US"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2" y="1981200"/>
            <a:ext cx="4956409" cy="2854781"/>
          </a:xfrm>
        </p:spPr>
        <p:txBody>
          <a:bodyPr vert="horz" lIns="91416" tIns="45708" rIns="91416" bIns="45708" rtlCol="0" anchor="ctr">
            <a:noAutofit/>
          </a:bodyPr>
          <a:lstStyle/>
          <a:p>
            <a:endParaRPr lang="en-US"/>
          </a:p>
          <a:p>
            <a:r>
              <a:rPr lang="en-US" sz="2400" b="1">
                <a:latin typeface="Times New Roman"/>
                <a:cs typeface="Times New Roman"/>
              </a:rPr>
              <a:t>Introduction</a:t>
            </a:r>
          </a:p>
          <a:p>
            <a:pPr algn="just"/>
            <a:r>
              <a:rPr lang="en-US" sz="2400">
                <a:latin typeface="Times New Roman"/>
                <a:cs typeface="Times New Roman"/>
              </a:rPr>
              <a:t>The Demo Web Shop Automation Framework is an end-to-end automation testing project developed for validating major functionalities of an e-commerce website.</a:t>
            </a:r>
          </a:p>
          <a:p>
            <a:r>
              <a:rPr lang="en-US" sz="2400" b="1">
                <a:latin typeface="Times New Roman"/>
                <a:cs typeface="Times New Roman"/>
              </a:rPr>
              <a:t>Purpose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Automate repetitive test scenarios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Reduce manual effort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Improve test coverage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Generate detailed execution reports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Follow industry-standard automation practices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DC2E-DFA6-6CE6-0A7A-BB369C0A7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06754-9DE2-5F76-1EE7-43CC1F697A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126802" y="1079656"/>
            <a:ext cx="5310763" cy="5355771"/>
          </a:xfrm>
        </p:spPr>
        <p:txBody>
          <a:bodyPr vert="horz" lIns="91416" tIns="45708" rIns="91416" bIns="45708" rtlCol="0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595959"/>
              </a:buClr>
              <a:buFont typeface="Wingdings"/>
              <a:buChar char="§"/>
            </a:pPr>
            <a:r>
              <a:rPr lang="en-US" sz="2400">
                <a:solidFill>
                  <a:srgbClr val="000000"/>
                </a:solidFill>
              </a:rPr>
              <a:t> Automate end-to-end business workflows</a:t>
            </a:r>
            <a:endParaRPr lang="en-US" sz="2400"/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595959"/>
              </a:buClr>
              <a:buFont typeface="Wingdings"/>
              <a:buChar char="§"/>
            </a:pPr>
            <a:r>
              <a:rPr lang="en-US" sz="2400">
                <a:solidFill>
                  <a:srgbClr val="000000"/>
                </a:solidFill>
              </a:rPr>
              <a:t>Improve testing efficiency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595959"/>
              </a:buClr>
              <a:buFont typeface="Wingdings"/>
              <a:buChar char="§"/>
            </a:pPr>
            <a:r>
              <a:rPr lang="en-US" sz="2400">
                <a:solidFill>
                  <a:srgbClr val="000000"/>
                </a:solidFill>
              </a:rPr>
              <a:t>Reduce execution time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595959"/>
              </a:buClr>
              <a:buFont typeface="Wingdings"/>
              <a:buChar char="§"/>
            </a:pPr>
            <a:r>
              <a:rPr lang="en-US" sz="2400">
                <a:solidFill>
                  <a:srgbClr val="000000"/>
                </a:solidFill>
              </a:rPr>
              <a:t>Increase test reliability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595959"/>
              </a:buClr>
              <a:buFont typeface="Wingdings"/>
              <a:buChar char="§"/>
            </a:pPr>
            <a:r>
              <a:rPr lang="en-US" sz="2400">
                <a:solidFill>
                  <a:srgbClr val="000000"/>
                </a:solidFill>
              </a:rPr>
              <a:t> Implement reusable automation  framework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595959"/>
              </a:buClr>
              <a:buFont typeface="Wingdings"/>
              <a:buChar char="§"/>
            </a:pPr>
            <a:r>
              <a:rPr lang="en-US" sz="2400">
                <a:solidFill>
                  <a:srgbClr val="000000"/>
                </a:solidFill>
              </a:rPr>
              <a:t>Support data-driven testing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595959"/>
              </a:buClr>
              <a:buFont typeface="Wingdings"/>
              <a:buChar char="§"/>
            </a:pPr>
            <a:r>
              <a:rPr lang="en-US" sz="2400">
                <a:solidFill>
                  <a:srgbClr val="000000"/>
                </a:solidFill>
              </a:rPr>
              <a:t>Generate professional reports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Wingdings" pitchFamily="34" charset="0"/>
              <a:buChar char="§"/>
            </a:pPr>
            <a:endParaRPr lang="en-US" sz="2400">
              <a:solidFill>
                <a:srgbClr val="000000"/>
              </a:solidFill>
            </a:endParaRPr>
          </a:p>
          <a:p>
            <a:pPr marL="731520" indent="-685800">
              <a:lnSpc>
                <a:spcPct val="150000"/>
              </a:lnSpc>
              <a:buFont typeface="Wingdings" pitchFamily="34" charset="0"/>
              <a:buChar char="§"/>
            </a:pPr>
            <a:endParaRPr lang="en-US" sz="24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996460-3D99-EA6A-392F-C39BDAD383E4}"/>
              </a:ext>
            </a:extLst>
          </p:cNvPr>
          <p:cNvSpPr txBox="1"/>
          <p:nvPr/>
        </p:nvSpPr>
        <p:spPr>
          <a:xfrm>
            <a:off x="7819119" y="2601483"/>
            <a:ext cx="3627628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latin typeface="Century Gothic"/>
              </a:rPr>
              <a:t>Project </a:t>
            </a:r>
            <a:endParaRPr lang="en-US" sz="4800" dirty="0">
              <a:latin typeface="Century Gothic"/>
            </a:endParaRPr>
          </a:p>
          <a:p>
            <a:r>
              <a:rPr lang="en-US" sz="4800" b="1">
                <a:latin typeface="Century Gothic"/>
              </a:rPr>
              <a:t>Objectives</a:t>
            </a:r>
            <a:endParaRPr lang="en-US" sz="4800"/>
          </a:p>
          <a:p>
            <a:pPr algn="ctr"/>
            <a:endParaRPr lang="en-US" sz="480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B63F4D5E-4F13-BEB9-176C-62A18BFFE6F9}"/>
              </a:ext>
            </a:extLst>
          </p:cNvPr>
          <p:cNvSpPr/>
          <p:nvPr/>
        </p:nvSpPr>
        <p:spPr>
          <a:xfrm>
            <a:off x="6904624" y="2212521"/>
            <a:ext cx="692335" cy="3098800"/>
          </a:xfrm>
          <a:prstGeom prst="rightBrace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05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43A1A1-0AB0-83B3-A016-E7029073EE31}"/>
              </a:ext>
            </a:extLst>
          </p:cNvPr>
          <p:cNvSpPr txBox="1"/>
          <p:nvPr/>
        </p:nvSpPr>
        <p:spPr>
          <a:xfrm>
            <a:off x="2844456" y="492559"/>
            <a:ext cx="6503827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ea typeface="+mn-lt"/>
                <a:cs typeface="+mn-lt"/>
              </a:rPr>
              <a:t>Technology Stack</a:t>
            </a:r>
            <a:endParaRPr lang="en-US" sz="4800" b="1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BCBD012-555B-43A7-794A-F48752E33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683464"/>
              </p:ext>
            </p:extLst>
          </p:nvPr>
        </p:nvGraphicFramePr>
        <p:xfrm>
          <a:off x="2066172" y="1546086"/>
          <a:ext cx="8703110" cy="4572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351555">
                  <a:extLst>
                    <a:ext uri="{9D8B030D-6E8A-4147-A177-3AD203B41FA5}">
                      <a16:colId xmlns:a16="http://schemas.microsoft.com/office/drawing/2014/main" val="2211900458"/>
                    </a:ext>
                  </a:extLst>
                </a:gridCol>
                <a:gridCol w="4351555">
                  <a:extLst>
                    <a:ext uri="{9D8B030D-6E8A-4147-A177-3AD203B41FA5}">
                      <a16:colId xmlns:a16="http://schemas.microsoft.com/office/drawing/2014/main" val="2652378536"/>
                    </a:ext>
                  </a:extLst>
                </a:gridCol>
              </a:tblGrid>
              <a:tr h="31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377804"/>
                  </a:ext>
                </a:extLst>
              </a:tr>
              <a:tr h="31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Java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Programming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667879"/>
                  </a:ext>
                </a:extLst>
              </a:tr>
              <a:tr h="31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Selenium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Browser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109647"/>
                  </a:ext>
                </a:extLst>
              </a:tr>
              <a:tr h="31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Cucumber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BDD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152975"/>
                  </a:ext>
                </a:extLst>
              </a:tr>
              <a:tr h="31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TestNG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Test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75654"/>
                  </a:ext>
                </a:extLst>
              </a:tr>
              <a:tr h="31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Maven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Dependency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564696"/>
                  </a:ext>
                </a:extLst>
              </a:tr>
              <a:tr h="31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Apache POI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Excel Data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643631"/>
                  </a:ext>
                </a:extLst>
              </a:tr>
              <a:tr h="31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Allure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276156"/>
                  </a:ext>
                </a:extLst>
              </a:tr>
              <a:tr h="31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Extent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412375"/>
                  </a:ext>
                </a:extLst>
              </a:tr>
              <a:tr h="31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Version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910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41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00" y="3127828"/>
            <a:ext cx="3841123" cy="1447800"/>
          </a:xfrm>
        </p:spPr>
        <p:txBody>
          <a:bodyPr anchor="t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Framework Architecture</a:t>
            </a:r>
            <a:endParaRPr lang="en-US" sz="4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5177" y="2409371"/>
            <a:ext cx="3476457" cy="4318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Plain Text Feature Files</a:t>
            </a:r>
            <a:br>
              <a:rPr lang="en-US" sz="2400"/>
            </a:br>
            <a:r>
              <a:rPr lang="en-US" sz="2400"/>
              <a:t>      ↓</a:t>
            </a:r>
            <a:br>
              <a:rPr lang="en-US" sz="2400"/>
            </a:br>
            <a:r>
              <a:rPr lang="en-US" sz="2400"/>
              <a:t>Step Definitions</a:t>
            </a:r>
            <a:br>
              <a:rPr lang="en-US" sz="2400"/>
            </a:br>
            <a:r>
              <a:rPr lang="en-US" sz="2400"/>
              <a:t>      ↓</a:t>
            </a:r>
            <a:br>
              <a:rPr lang="en-US" sz="2400"/>
            </a:br>
            <a:r>
              <a:rPr lang="en-US" sz="2400"/>
              <a:t>Page Objects</a:t>
            </a:r>
            <a:br>
              <a:rPr lang="en-US" sz="2400"/>
            </a:br>
            <a:r>
              <a:rPr lang="en-US" sz="2400"/>
              <a:t>      ↓</a:t>
            </a:r>
            <a:br>
              <a:rPr lang="en-US" sz="2400"/>
            </a:br>
            <a:r>
              <a:rPr lang="en-US" sz="2400"/>
              <a:t>Web Elements</a:t>
            </a:r>
            <a:br>
              <a:rPr lang="en-US" sz="2400"/>
            </a:br>
            <a:r>
              <a:rPr lang="en-US" sz="2400"/>
              <a:t>      ↓</a:t>
            </a:r>
            <a:br>
              <a:rPr lang="en-US" sz="2400"/>
            </a:br>
            <a:r>
              <a:rPr lang="en-US" sz="2400"/>
              <a:t>Browser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25DD9-19AB-0D64-874E-6F41331FD388}"/>
              </a:ext>
            </a:extLst>
          </p:cNvPr>
          <p:cNvSpPr txBox="1"/>
          <p:nvPr/>
        </p:nvSpPr>
        <p:spPr>
          <a:xfrm>
            <a:off x="4702162" y="1299639"/>
            <a:ext cx="3825761" cy="83099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Page Object Model Architecture</a:t>
            </a:r>
            <a:endParaRPr lang="en-US" sz="2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85719-BD4E-0534-422B-AFAD81033E89}"/>
              </a:ext>
            </a:extLst>
          </p:cNvPr>
          <p:cNvSpPr txBox="1"/>
          <p:nvPr/>
        </p:nvSpPr>
        <p:spPr>
          <a:xfrm>
            <a:off x="9199945" y="1483198"/>
            <a:ext cx="2088905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ea typeface="+mn-lt"/>
                <a:cs typeface="+mn-lt"/>
              </a:rPr>
              <a:t>Benefits</a:t>
            </a:r>
            <a:endParaRPr lang="en-US" sz="24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EB865-8BB7-6EFA-C601-87DE43853226}"/>
              </a:ext>
            </a:extLst>
          </p:cNvPr>
          <p:cNvSpPr txBox="1"/>
          <p:nvPr/>
        </p:nvSpPr>
        <p:spPr>
          <a:xfrm>
            <a:off x="8758110" y="2728973"/>
            <a:ext cx="3428104" cy="223811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400"/>
              <a:t>Reusability</a:t>
            </a:r>
            <a:endParaRPr lang="en-US"/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400"/>
              <a:t>Scalability</a:t>
            </a: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400"/>
              <a:t>Easy Maintenance</a:t>
            </a: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2400"/>
              <a:t>Better Readability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A993BE6-2F34-ED10-A6C1-EFCC5E8B2CC6}"/>
              </a:ext>
            </a:extLst>
          </p:cNvPr>
          <p:cNvSpPr/>
          <p:nvPr/>
        </p:nvSpPr>
        <p:spPr>
          <a:xfrm rot="10800000">
            <a:off x="4009778" y="2452007"/>
            <a:ext cx="692335" cy="3098800"/>
          </a:xfrm>
          <a:prstGeom prst="rightBrace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5691212" cy="1447800"/>
          </a:xfrm>
        </p:spPr>
        <p:txBody>
          <a:bodyPr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Project Structure</a:t>
            </a:r>
            <a:endParaRPr lang="en-US" sz="4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6749" y="1334852"/>
            <a:ext cx="4593765" cy="5138057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2400"/>
          </a:p>
          <a:p>
            <a:r>
              <a:rPr lang="en-US" sz="2400" err="1"/>
              <a:t>src</a:t>
            </a:r>
            <a:r>
              <a:rPr lang="en-US" sz="2400"/>
              <a:t>/main/java</a:t>
            </a:r>
            <a:br>
              <a:rPr lang="en-US" sz="2400"/>
            </a:br>
            <a:r>
              <a:rPr lang="en-US" sz="2400"/>
              <a:t>└─ Pages</a:t>
            </a:r>
          </a:p>
          <a:p>
            <a:r>
              <a:rPr lang="en-US" sz="2400" err="1"/>
              <a:t>src</a:t>
            </a:r>
            <a:r>
              <a:rPr lang="en-US" sz="2400"/>
              <a:t>/test/java</a:t>
            </a:r>
            <a:br>
              <a:rPr lang="en-US" sz="2400"/>
            </a:br>
            <a:r>
              <a:rPr lang="en-US" sz="2400"/>
              <a:t>├─ Runner</a:t>
            </a:r>
            <a:br>
              <a:rPr lang="en-US" sz="2400"/>
            </a:br>
            <a:r>
              <a:rPr lang="en-US" sz="2400"/>
              <a:t>├─ Step Definitions</a:t>
            </a:r>
            <a:br>
              <a:rPr lang="en-US" sz="2400"/>
            </a:br>
            <a:r>
              <a:rPr lang="en-US" sz="2400"/>
              <a:t>└─ Hooks</a:t>
            </a:r>
          </a:p>
          <a:p>
            <a:r>
              <a:rPr lang="en-US" sz="2400" err="1"/>
              <a:t>src</a:t>
            </a:r>
            <a:r>
              <a:rPr lang="en-US" sz="2400"/>
              <a:t>/test/resources</a:t>
            </a:r>
            <a:br>
              <a:rPr lang="en-US" sz="2400"/>
            </a:br>
            <a:r>
              <a:rPr lang="en-US" sz="2400"/>
              <a:t>├─ Features</a:t>
            </a:r>
            <a:br>
              <a:rPr lang="en-US" sz="2400"/>
            </a:br>
            <a:r>
              <a:rPr lang="en-US" sz="2400"/>
              <a:t>└─ Test Data</a:t>
            </a:r>
          </a:p>
          <a:p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0DFDE9-168D-38D3-27ED-E9D553FEF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210" y="432627"/>
            <a:ext cx="4506873" cy="641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9F37-A9FD-6C40-ED5A-F5214F0F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651BC-237D-848F-7851-BD0D99A9A17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58" y="232011"/>
            <a:ext cx="5644505" cy="4695371"/>
          </a:xfrm>
        </p:spPr>
        <p:txBody>
          <a:bodyPr vert="horz" lIns="91416" tIns="45708" rIns="91416" bIns="45708" rtlCol="0" anchor="t">
            <a:noAutofit/>
          </a:bodyPr>
          <a:lstStyle/>
          <a:p>
            <a:pPr marL="0">
              <a:lnSpc>
                <a:spcPct val="100000"/>
              </a:lnSpc>
              <a:spcBef>
                <a:spcPct val="0"/>
              </a:spcBef>
            </a:pPr>
            <a:r>
              <a:rPr lang="en-US" sz="2400" b="1"/>
              <a:t>User Management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Registration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Login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Logout</a:t>
            </a:r>
            <a:endParaRPr lang="en-US" sz="2400">
              <a:solidFill>
                <a:srgbClr val="000000"/>
              </a:solidFill>
            </a:endParaRPr>
          </a:p>
          <a:p>
            <a:pPr marL="0">
              <a:lnSpc>
                <a:spcPct val="100000"/>
              </a:lnSpc>
              <a:spcBef>
                <a:spcPct val="0"/>
              </a:spcBef>
            </a:pPr>
            <a:r>
              <a:rPr lang="en-US" sz="2400" b="1"/>
              <a:t>Product Management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Search Product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Filter Product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Product Comparison</a:t>
            </a:r>
            <a:endParaRPr lang="en-US" sz="2400">
              <a:solidFill>
                <a:srgbClr val="000000"/>
              </a:solidFill>
            </a:endParaRPr>
          </a:p>
          <a:p>
            <a:pPr marL="0">
              <a:lnSpc>
                <a:spcPct val="100000"/>
              </a:lnSpc>
              <a:spcBef>
                <a:spcPct val="0"/>
              </a:spcBef>
            </a:pPr>
            <a:r>
              <a:rPr lang="en-US" sz="2400" b="1"/>
              <a:t>Shopping Features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Wishlist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Shopping Cart</a:t>
            </a:r>
            <a:endParaRPr lang="en-US" sz="2400">
              <a:solidFill>
                <a:srgbClr val="000000"/>
              </a:solidFill>
            </a:endParaRPr>
          </a:p>
          <a:p>
            <a:pPr marL="0">
              <a:lnSpc>
                <a:spcPct val="100000"/>
              </a:lnSpc>
              <a:spcBef>
                <a:spcPct val="0"/>
              </a:spcBef>
            </a:pPr>
            <a:r>
              <a:rPr lang="en-US" sz="2400" b="1"/>
              <a:t>Checkout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Guest Checkout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Registered Checkout</a:t>
            </a:r>
            <a:endParaRPr lang="en-US" sz="2400">
              <a:solidFill>
                <a:srgbClr val="000000"/>
              </a:solidFill>
            </a:endParaRPr>
          </a:p>
          <a:p>
            <a:pPr marL="0">
              <a:lnSpc>
                <a:spcPct val="100000"/>
              </a:lnSpc>
              <a:spcBef>
                <a:spcPct val="0"/>
              </a:spcBef>
            </a:pPr>
            <a:r>
              <a:rPr lang="en-US" sz="2400" b="1"/>
              <a:t>Customer Services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Return Request</a:t>
            </a:r>
            <a:endParaRPr lang="en-US" sz="24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Clr>
                <a:srgbClr val="595959"/>
              </a:buClr>
              <a:buFont typeface="Arial,Sans-Serif"/>
              <a:buChar char="•"/>
            </a:pPr>
            <a:r>
              <a:rPr lang="en-US" sz="2400"/>
              <a:t>Recently Viewed Products</a:t>
            </a:r>
            <a:endParaRPr lang="en-US" sz="2400">
              <a:solidFill>
                <a:srgbClr val="000000"/>
              </a:solidFill>
            </a:endParaRPr>
          </a:p>
          <a:p>
            <a:pPr marL="0">
              <a:lnSpc>
                <a:spcPct val="100000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</a:endParaRPr>
          </a:p>
          <a:p>
            <a:pPr marL="0">
              <a:lnSpc>
                <a:spcPct val="100000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endParaRPr lang="en-US" sz="24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233AB8-EB81-CB52-FC05-75FBCEB4AEA0}"/>
              </a:ext>
            </a:extLst>
          </p:cNvPr>
          <p:cNvSpPr txBox="1"/>
          <p:nvPr/>
        </p:nvSpPr>
        <p:spPr>
          <a:xfrm>
            <a:off x="3589531" y="431715"/>
            <a:ext cx="8321774" cy="15696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i="0" u="none" strike="noStrike" baseline="0">
                <a:solidFill>
                  <a:srgbClr val="000000"/>
                </a:solidFill>
                <a:latin typeface="Century Gothic"/>
              </a:rPr>
              <a:t>Functionalities Covered</a:t>
            </a:r>
            <a:r>
              <a:rPr sz="4800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​</a:t>
            </a:r>
            <a:endParaRPr lang="en-US" sz="4800"/>
          </a:p>
          <a:p>
            <a:pPr algn="ctr"/>
            <a:endParaRPr lang="en-US" sz="4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269164-3372-2315-D041-5C648C518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994" y="1701592"/>
            <a:ext cx="6399133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4304" y="362857"/>
            <a:ext cx="4914900" cy="1447800"/>
          </a:xfrm>
        </p:spPr>
        <p:txBody>
          <a:bodyPr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Reporting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7" y="1330725"/>
            <a:ext cx="3831964" cy="36213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>
              <a:buClr>
                <a:srgbClr val="595959"/>
              </a:buClr>
              <a:buNone/>
            </a:pPr>
            <a:r>
              <a:rPr lang="en-US" sz="2400" b="1"/>
              <a:t>Allure Reports</a:t>
            </a:r>
            <a:endParaRPr lang="en-US" sz="2400"/>
          </a:p>
          <a:p>
            <a:pPr marL="45720" indent="0">
              <a:buNone/>
            </a:pPr>
            <a:r>
              <a:rPr lang="en-US" sz="2400" b="1"/>
              <a:t>Features</a:t>
            </a:r>
          </a:p>
          <a:p>
            <a:pPr>
              <a:buClr>
                <a:srgbClr val="595959"/>
              </a:buClr>
            </a:pPr>
            <a:r>
              <a:rPr lang="en-US" sz="2400"/>
              <a:t>Execution Summary</a:t>
            </a:r>
          </a:p>
          <a:p>
            <a:pPr>
              <a:buClr>
                <a:srgbClr val="595959"/>
              </a:buClr>
            </a:pPr>
            <a:r>
              <a:rPr lang="en-US" sz="2400"/>
              <a:t>Pass/Fail Statistics</a:t>
            </a:r>
          </a:p>
          <a:p>
            <a:pPr>
              <a:buClr>
                <a:srgbClr val="595959"/>
              </a:buClr>
            </a:pPr>
            <a:r>
              <a:rPr lang="en-US" sz="2400"/>
              <a:t>Timeline View</a:t>
            </a:r>
          </a:p>
          <a:p>
            <a:pPr>
              <a:buClr>
                <a:srgbClr val="595959"/>
              </a:buClr>
            </a:pPr>
            <a:r>
              <a:rPr lang="en-US" sz="2400"/>
              <a:t>Detailed Logs</a:t>
            </a:r>
          </a:p>
          <a:p>
            <a:pPr>
              <a:buClr>
                <a:srgbClr val="595959"/>
              </a:buClr>
            </a:pPr>
            <a:endParaRPr lang="en-US" sz="2400"/>
          </a:p>
        </p:txBody>
      </p:sp>
      <p:pic>
        <p:nvPicPr>
          <p:cNvPr id="227" name="Picture 226">
            <a:extLst>
              <a:ext uri="{FF2B5EF4-FFF2-40B4-BE49-F238E27FC236}">
                <a16:creationId xmlns:a16="http://schemas.microsoft.com/office/drawing/2014/main" id="{519314A6-AF44-BBDE-2594-F8E67C1E7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345" y="1087041"/>
            <a:ext cx="8437858" cy="565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Extent Reports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011438" y="1713863"/>
            <a:ext cx="4142669" cy="42672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sz="2400" b="1"/>
              <a:t>Features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Interactive HTML Dashboard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Test Status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Logs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Execution Summary</a:t>
            </a:r>
          </a:p>
          <a:p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87D42D-3016-E41F-0C14-A713DA030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843" y="1350503"/>
            <a:ext cx="7451145" cy="487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C717FE-BCED-84E0-51E6-EE31F034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777" y="442686"/>
            <a:ext cx="7142263" cy="1447800"/>
          </a:xfrm>
        </p:spPr>
        <p:txBody>
          <a:bodyPr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GitHub Integration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92E986-9D7B-19D4-F7A1-31FE3C366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687" y="444221"/>
            <a:ext cx="4572000" cy="3962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/>
              <a:t>Activities Performed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400" b="0"/>
              <a:t>Repository Creation</a:t>
            </a:r>
            <a:endParaRPr lang="en-US" sz="24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400" b="0"/>
              <a:t>Code Commit</a:t>
            </a:r>
            <a:endParaRPr lang="en-US" sz="24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400" b="0"/>
              <a:t>Push &amp; Pull Operations</a:t>
            </a:r>
            <a:endParaRPr lang="en-US" sz="24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400" b="0"/>
              <a:t>Branch Management</a:t>
            </a:r>
            <a:endParaRPr lang="en-US" sz="24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400" b="0"/>
              <a:t>Collaboration</a:t>
            </a:r>
            <a:endParaRPr lang="en-US" sz="2400"/>
          </a:p>
          <a:p>
            <a:pPr>
              <a:lnSpc>
                <a:spcPct val="100000"/>
              </a:lnSpc>
            </a:pPr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6CAF4B-D020-1F2A-0650-633C917FC483}"/>
              </a:ext>
            </a:extLst>
          </p:cNvPr>
          <p:cNvSpPr txBox="1"/>
          <p:nvPr/>
        </p:nvSpPr>
        <p:spPr>
          <a:xfrm>
            <a:off x="676666" y="4065189"/>
            <a:ext cx="3867232" cy="279211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/>
              <a:t>Benefits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 Code Tracking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 Team Collaboration</a:t>
            </a:r>
            <a:endParaRPr lang="en-US" sz="24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 Backup &amp; Recovery</a:t>
            </a:r>
            <a:endParaRPr lang="en-US" sz="2400"/>
          </a:p>
          <a:p>
            <a:pPr algn="l">
              <a:lnSpc>
                <a:spcPct val="150000"/>
              </a:lnSpc>
            </a:pP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E6936-1CB9-2F6E-A774-2EB4FBA5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096" y="1333773"/>
            <a:ext cx="6399133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947" y="529771"/>
            <a:ext cx="7729938" cy="1447800"/>
          </a:xfrm>
        </p:spPr>
        <p:txBody>
          <a:bodyPr anchor="t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Challenges &amp; Solutions</a:t>
            </a:r>
            <a:endParaRPr lang="en-US" sz="48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A9651E9-4AA2-D643-15DC-9FAC4FD59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699701"/>
              </p:ext>
            </p:extLst>
          </p:nvPr>
        </p:nvGraphicFramePr>
        <p:xfrm>
          <a:off x="1641946" y="1548546"/>
          <a:ext cx="9450489" cy="4572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673278">
                  <a:extLst>
                    <a:ext uri="{9D8B030D-6E8A-4147-A177-3AD203B41FA5}">
                      <a16:colId xmlns:a16="http://schemas.microsoft.com/office/drawing/2014/main" val="4054355456"/>
                    </a:ext>
                  </a:extLst>
                </a:gridCol>
                <a:gridCol w="4777211">
                  <a:extLst>
                    <a:ext uri="{9D8B030D-6E8A-4147-A177-3AD203B41FA5}">
                      <a16:colId xmlns:a16="http://schemas.microsoft.com/office/drawing/2014/main" val="3939676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Challenge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Solution</a:t>
                      </a:r>
                    </a:p>
                    <a:p>
                      <a:pPr lvl="0">
                        <a:buNone/>
                      </a:pP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29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Dynamic Elements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Explicit Waits</a:t>
                      </a:r>
                    </a:p>
                    <a:p>
                      <a:pPr lvl="0">
                        <a:buNone/>
                      </a:pP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502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Synchronization Issues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 err="1">
                          <a:solidFill>
                            <a:srgbClr val="000000"/>
                          </a:solidFill>
                          <a:latin typeface="Century Gothic"/>
                        </a:rPr>
                        <a:t>WebDriverWait</a:t>
                      </a:r>
                    </a:p>
                    <a:p>
                      <a:pPr lvl="0">
                        <a:buNone/>
                      </a:pP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889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Test Data Management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Excel Utility</a:t>
                      </a:r>
                    </a:p>
                    <a:p>
                      <a:pPr lvl="0">
                        <a:buNone/>
                      </a:pP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573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Reusability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Page Object Model</a:t>
                      </a:r>
                    </a:p>
                    <a:p>
                      <a:pPr lvl="0">
                        <a:buNone/>
                      </a:pP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7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Reporting Setup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Century Gothic"/>
                        </a:rPr>
                        <a:t>Allure &amp; Extent Integration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219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55" y="2002971"/>
            <a:ext cx="5045494" cy="2855685"/>
          </a:xfrm>
        </p:spPr>
        <p:txBody>
          <a:bodyPr anchor="t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  Results </a:t>
            </a:r>
            <a:br>
              <a:rPr lang="en-US" sz="4800">
                <a:ea typeface="+mj-lt"/>
                <a:cs typeface="+mj-lt"/>
              </a:rPr>
            </a:br>
            <a:r>
              <a:rPr lang="en-US" sz="4800">
                <a:ea typeface="+mj-lt"/>
                <a:cs typeface="+mj-lt"/>
              </a:rPr>
              <a:t>   &amp;</a:t>
            </a:r>
            <a:br>
              <a:rPr lang="en-US" sz="4800">
                <a:ea typeface="+mj-lt"/>
                <a:cs typeface="+mj-lt"/>
              </a:rPr>
            </a:br>
            <a:r>
              <a:rPr lang="en-US" sz="4800">
                <a:ea typeface="+mj-lt"/>
                <a:cs typeface="+mj-lt"/>
              </a:rPr>
              <a:t> Achievements</a:t>
            </a:r>
            <a:endParaRPr lang="en-US" sz="48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062" y="1176105"/>
            <a:ext cx="4911725" cy="4114799"/>
          </a:xfrm>
        </p:spPr>
        <p:txBody>
          <a:bodyPr vert="horz" lIns="91416" tIns="45708" rIns="91416" bIns="45708" rtlCol="0" anchor="t">
            <a:noAutofit/>
          </a:bodyPr>
          <a:lstStyle/>
          <a:p>
            <a:pPr>
              <a:buClr>
                <a:srgbClr val="595959"/>
              </a:buClr>
            </a:pPr>
            <a:r>
              <a:rPr lang="en-US" sz="2400"/>
              <a:t> Automated major e-commerce workflows</a:t>
            </a:r>
          </a:p>
          <a:p>
            <a:pPr>
              <a:buClr>
                <a:srgbClr val="595959"/>
              </a:buClr>
            </a:pPr>
            <a:r>
              <a:rPr lang="en-US" sz="2400"/>
              <a:t> Increased test coverage</a:t>
            </a:r>
          </a:p>
          <a:p>
            <a:pPr>
              <a:buClr>
                <a:srgbClr val="595959"/>
              </a:buClr>
            </a:pPr>
            <a:r>
              <a:rPr lang="en-US" sz="2400"/>
              <a:t> Reduced manual effort</a:t>
            </a:r>
          </a:p>
          <a:p>
            <a:pPr>
              <a:buClr>
                <a:srgbClr val="595959"/>
              </a:buClr>
            </a:pPr>
            <a:r>
              <a:rPr lang="en-US" sz="2400"/>
              <a:t> Reusable automation framework</a:t>
            </a:r>
          </a:p>
          <a:p>
            <a:pPr>
              <a:buClr>
                <a:srgbClr val="595959"/>
              </a:buClr>
            </a:pPr>
            <a:r>
              <a:rPr lang="en-US" sz="2400"/>
              <a:t> Data-driven execution</a:t>
            </a:r>
          </a:p>
          <a:p>
            <a:pPr>
              <a:buClr>
                <a:srgbClr val="595959"/>
              </a:buClr>
            </a:pPr>
            <a:r>
              <a:rPr lang="en-US" sz="2400"/>
              <a:t> Professional reporting</a:t>
            </a:r>
          </a:p>
          <a:p>
            <a:pPr>
              <a:buClr>
                <a:srgbClr val="595959"/>
              </a:buClr>
            </a:pPr>
            <a:r>
              <a:rPr lang="en-US" sz="2400"/>
              <a:t> Scalable project structure</a:t>
            </a:r>
          </a:p>
          <a:p>
            <a:pPr>
              <a:buClr>
                <a:srgbClr val="595959"/>
              </a:buClr>
            </a:pP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EB0C7-F76D-9959-F525-3A0845CA8F0A}"/>
              </a:ext>
            </a:extLst>
          </p:cNvPr>
          <p:cNvSpPr txBox="1"/>
          <p:nvPr/>
        </p:nvSpPr>
        <p:spPr>
          <a:xfrm>
            <a:off x="6571913" y="377926"/>
            <a:ext cx="3872098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Project Outcomes</a:t>
            </a:r>
            <a:endParaRPr lang="en-US" sz="2400" b="1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5BFA1B64-A61E-04EF-BBF3-DC2C2BCE3FCF}"/>
              </a:ext>
            </a:extLst>
          </p:cNvPr>
          <p:cNvSpPr/>
          <p:nvPr/>
        </p:nvSpPr>
        <p:spPr>
          <a:xfrm rot="10800000">
            <a:off x="5402787" y="1878693"/>
            <a:ext cx="692335" cy="3098800"/>
          </a:xfrm>
          <a:prstGeom prst="rightBrace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5E1AD-E1FE-F8C4-C651-89DF688D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2E0F8-60D6-AF2E-DF59-81B133E83E0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37854" y="2658651"/>
            <a:ext cx="4911725" cy="42672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sz="4800" b="1"/>
              <a:t>THANK YOU</a:t>
            </a:r>
          </a:p>
        </p:txBody>
      </p:sp>
      <p:pic>
        <p:nvPicPr>
          <p:cNvPr id="2" name="Picture 1" descr="A card with text on it&#10;&#10;AI-generated content may be incorrect.">
            <a:extLst>
              <a:ext uri="{FF2B5EF4-FFF2-40B4-BE49-F238E27FC236}">
                <a16:creationId xmlns:a16="http://schemas.microsoft.com/office/drawing/2014/main" id="{AE94BFCC-DCB5-68E3-A057-58C6AB763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02" y="238125"/>
            <a:ext cx="7298784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9227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050606-E255-48B6-AE23-CE03A589EB22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C06458-EC9A-428C-9123-A760B9587A60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      DEMO WEB SHOP AUTOMATION TESTING FRAMEWORK USING SELENIUM, CUCUMBER, TESTNG AND JAVA  CAPSTONE PROJECT PRESENTATION                     SDET TRAINING PROGRAM WIPRO LIMITED 2026 </vt:lpstr>
      <vt:lpstr>Project Overview </vt:lpstr>
      <vt:lpstr>PowerPoint Presentation</vt:lpstr>
      <vt:lpstr>PowerPoint Presentation</vt:lpstr>
      <vt:lpstr>Framework Architecture</vt:lpstr>
      <vt:lpstr>Project Structure</vt:lpstr>
      <vt:lpstr>PowerPoint Presentation</vt:lpstr>
      <vt:lpstr>Reporting</vt:lpstr>
      <vt:lpstr>Extent Reports</vt:lpstr>
      <vt:lpstr>GitHub Integration</vt:lpstr>
      <vt:lpstr>Challenges &amp; Solutions</vt:lpstr>
      <vt:lpstr>  Results     &amp;  Achievements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</cp:revision>
  <dcterms:created xsi:type="dcterms:W3CDTF">2026-07-08T11:52:37Z</dcterms:created>
  <dcterms:modified xsi:type="dcterms:W3CDTF">2026-07-10T05:39:38Z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  <property fmtid="{D5CDD505-2E9C-101B-9397-08002B2CF9AE}" pid="13" name="MSIP_Label_ce7ded32-6a8c-48b8-8009-ebf9a4e0e083_Enabled">
    <vt:lpwstr>true</vt:lpwstr>
  </property>
  <property fmtid="{D5CDD505-2E9C-101B-9397-08002B2CF9AE}" pid="14" name="MSIP_Label_ce7ded32-6a8c-48b8-8009-ebf9a4e0e083_SetDate">
    <vt:lpwstr>2026-07-08T11:53:20Z</vt:lpwstr>
  </property>
  <property fmtid="{D5CDD505-2E9C-101B-9397-08002B2CF9AE}" pid="15" name="MSIP_Label_ce7ded32-6a8c-48b8-8009-ebf9a4e0e083_Method">
    <vt:lpwstr>Privileged</vt:lpwstr>
  </property>
  <property fmtid="{D5CDD505-2E9C-101B-9397-08002B2CF9AE}" pid="16" name="MSIP_Label_ce7ded32-6a8c-48b8-8009-ebf9a4e0e083_Name">
    <vt:lpwstr>Public - Public</vt:lpwstr>
  </property>
  <property fmtid="{D5CDD505-2E9C-101B-9397-08002B2CF9AE}" pid="17" name="MSIP_Label_ce7ded32-6a8c-48b8-8009-ebf9a4e0e083_SiteId">
    <vt:lpwstr>258ac4e4-146a-411e-9dc8-79a9e12fd6da</vt:lpwstr>
  </property>
  <property fmtid="{D5CDD505-2E9C-101B-9397-08002B2CF9AE}" pid="18" name="MSIP_Label_ce7ded32-6a8c-48b8-8009-ebf9a4e0e083_ActionId">
    <vt:lpwstr>667034b9-9d19-4d58-aa44-b25be6366a21</vt:lpwstr>
  </property>
  <property fmtid="{D5CDD505-2E9C-101B-9397-08002B2CF9AE}" pid="19" name="MSIP_Label_ce7ded32-6a8c-48b8-8009-ebf9a4e0e083_ContentBits">
    <vt:lpwstr>2</vt:lpwstr>
  </property>
  <property fmtid="{D5CDD505-2E9C-101B-9397-08002B2CF9AE}" pid="20" name="MSIP_Label_ce7ded32-6a8c-48b8-8009-ebf9a4e0e083_Tag">
    <vt:lpwstr>10, 0, 1, 2</vt:lpwstr>
  </property>
  <property fmtid="{D5CDD505-2E9C-101B-9397-08002B2CF9AE}" pid="21" name="ClassificationContentMarkingFooterLocations">
    <vt:lpwstr>Custom:8</vt:lpwstr>
  </property>
  <property fmtid="{D5CDD505-2E9C-101B-9397-08002B2CF9AE}" pid="22" name="ClassificationContentMarkingFooterText">
    <vt:lpwstr>Public</vt:lpwstr>
  </property>
</Properties>
</file>